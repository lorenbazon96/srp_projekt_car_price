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9"/>
  </p:notesMasterIdLst>
  <p:handoutMasterIdLst>
    <p:handoutMasterId r:id="rId20"/>
  </p:handoutMasterIdLst>
  <p:sldIdLst>
    <p:sldId id="257" r:id="rId5"/>
    <p:sldId id="268" r:id="rId6"/>
    <p:sldId id="267" r:id="rId7"/>
    <p:sldId id="269" r:id="rId8"/>
    <p:sldId id="270" r:id="rId9"/>
    <p:sldId id="276" r:id="rId10"/>
    <p:sldId id="277" r:id="rId11"/>
    <p:sldId id="280" r:id="rId12"/>
    <p:sldId id="282" r:id="rId13"/>
    <p:sldId id="274" r:id="rId14"/>
    <p:sldId id="271" r:id="rId15"/>
    <p:sldId id="273" r:id="rId16"/>
    <p:sldId id="275" r:id="rId17"/>
    <p:sldId id="281" r:id="rId18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>
      <p:cViewPr varScale="1">
        <p:scale>
          <a:sx n="76" d="100"/>
          <a:sy n="76" d="100"/>
        </p:scale>
        <p:origin x="678" y="96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3/25/2026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3/25/2026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 smtClean="0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3/25/2026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3492872"/>
          </a:xfrm>
        </p:spPr>
        <p:txBody>
          <a:bodyPr>
            <a:normAutofit/>
          </a:bodyPr>
          <a:lstStyle/>
          <a:p>
            <a:r>
              <a:rPr lang="hr-HR" dirty="0" smtClean="0"/>
              <a:t>Analiza prodaje rabljenih </a:t>
            </a:r>
            <a:r>
              <a:rPr lang="hr-HR" dirty="0" smtClean="0"/>
              <a:t>vozila</a:t>
            </a:r>
            <a:br>
              <a:rPr lang="hr-HR" dirty="0" smtClean="0"/>
            </a:br>
            <a:r>
              <a:rPr lang="hr-HR" dirty="0" smtClean="0"/>
              <a:t/>
            </a:r>
            <a:br>
              <a:rPr lang="hr-HR" dirty="0" smtClean="0"/>
            </a:br>
            <a:r>
              <a:rPr lang="hr-HR" sz="2800" dirty="0" smtClean="0"/>
              <a:t>Checkpoint 1</a:t>
            </a:r>
            <a:endParaRPr lang="en-US" sz="2800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7390556" y="5517232"/>
            <a:ext cx="2016224" cy="360040"/>
          </a:xfrm>
        </p:spPr>
        <p:txBody>
          <a:bodyPr>
            <a:normAutofit fontScale="92500" lnSpcReduction="10000"/>
          </a:bodyPr>
          <a:lstStyle/>
          <a:p>
            <a:r>
              <a:rPr lang="hr-HR" sz="2000" dirty="0" smtClean="0"/>
              <a:t>Loren Bažon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Uvod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hr-HR" sz="2400" dirty="0" smtClean="0"/>
              <a:t>Analiza sadrži </a:t>
            </a:r>
            <a:r>
              <a:rPr lang="sr-Latn-RS" altLang="sr-Latn-RS" sz="2400" dirty="0"/>
              <a:t>informacije</a:t>
            </a:r>
            <a:r>
              <a:rPr lang="sr-Latn-RS" altLang="sr-Latn-RS" sz="2400" dirty="0">
                <a:solidFill>
                  <a:srgbClr val="212121"/>
                </a:solidFill>
              </a:rPr>
              <a:t> </a:t>
            </a:r>
            <a:r>
              <a:rPr lang="sr-Latn-RS" altLang="sr-Latn-RS" sz="2400" dirty="0"/>
              <a:t>o</a:t>
            </a:r>
            <a:r>
              <a:rPr lang="sr-Latn-RS" altLang="sr-Latn-RS" sz="2400" dirty="0">
                <a:solidFill>
                  <a:srgbClr val="212121"/>
                </a:solidFill>
              </a:rPr>
              <a:t> </a:t>
            </a:r>
            <a:r>
              <a:rPr lang="sr-Latn-RS" altLang="sr-Latn-RS" sz="2400" dirty="0"/>
              <a:t>prodaji</a:t>
            </a:r>
            <a:r>
              <a:rPr lang="sr-Latn-RS" altLang="sr-Latn-RS" sz="2400" dirty="0">
                <a:solidFill>
                  <a:srgbClr val="212121"/>
                </a:solidFill>
              </a:rPr>
              <a:t> </a:t>
            </a:r>
            <a:r>
              <a:rPr lang="sr-Latn-RS" altLang="sr-Latn-RS" sz="2400" dirty="0"/>
              <a:t>rabljenih</a:t>
            </a:r>
            <a:r>
              <a:rPr lang="sr-Latn-RS" altLang="sr-Latn-RS" sz="2400" dirty="0">
                <a:solidFill>
                  <a:srgbClr val="212121"/>
                </a:solidFill>
              </a:rPr>
              <a:t> </a:t>
            </a:r>
            <a:r>
              <a:rPr lang="sr-Latn-RS" altLang="sr-Latn-RS" sz="2400" dirty="0"/>
              <a:t>vozila</a:t>
            </a:r>
            <a:r>
              <a:rPr lang="sr-Latn-RS" altLang="sr-Latn-RS" sz="2400" dirty="0">
                <a:solidFill>
                  <a:srgbClr val="0055AA"/>
                </a:solidFill>
              </a:rPr>
              <a:t>,</a:t>
            </a:r>
            <a:r>
              <a:rPr lang="sr-Latn-RS" altLang="sr-Latn-RS" sz="2400" dirty="0">
                <a:solidFill>
                  <a:srgbClr val="212121"/>
                </a:solidFill>
              </a:rPr>
              <a:t> </a:t>
            </a:r>
            <a:r>
              <a:rPr lang="sr-Latn-RS" altLang="sr-Latn-RS" sz="2400" dirty="0"/>
              <a:t>uključujući</a:t>
            </a:r>
            <a:r>
              <a:rPr lang="sr-Latn-RS" altLang="sr-Latn-RS" sz="2400" dirty="0">
                <a:solidFill>
                  <a:srgbClr val="212121"/>
                </a:solidFill>
              </a:rPr>
              <a:t> </a:t>
            </a:r>
            <a:r>
              <a:rPr lang="sr-Latn-RS" altLang="sr-Latn-RS" sz="2400" dirty="0"/>
              <a:t>godinu</a:t>
            </a:r>
            <a:r>
              <a:rPr lang="sr-Latn-RS" altLang="sr-Latn-RS" sz="2400" dirty="0">
                <a:solidFill>
                  <a:srgbClr val="212121"/>
                </a:solidFill>
              </a:rPr>
              <a:t> </a:t>
            </a:r>
            <a:r>
              <a:rPr lang="sr-Latn-RS" altLang="sr-Latn-RS" sz="2400" dirty="0"/>
              <a:t>proizvodnje</a:t>
            </a:r>
            <a:r>
              <a:rPr lang="sr-Latn-RS" altLang="sr-Latn-RS" sz="2400" dirty="0">
                <a:solidFill>
                  <a:srgbClr val="0055AA"/>
                </a:solidFill>
              </a:rPr>
              <a:t>,</a:t>
            </a:r>
            <a:r>
              <a:rPr lang="sr-Latn-RS" altLang="sr-Latn-RS" sz="2400" dirty="0">
                <a:solidFill>
                  <a:srgbClr val="212121"/>
                </a:solidFill>
              </a:rPr>
              <a:t> </a:t>
            </a:r>
            <a:r>
              <a:rPr lang="sr-Latn-RS" altLang="sr-Latn-RS" sz="2400" dirty="0"/>
              <a:t>marku</a:t>
            </a:r>
            <a:r>
              <a:rPr lang="sr-Latn-RS" altLang="sr-Latn-RS" sz="2400" dirty="0">
                <a:solidFill>
                  <a:srgbClr val="0055AA"/>
                </a:solidFill>
              </a:rPr>
              <a:t>,</a:t>
            </a:r>
            <a:r>
              <a:rPr lang="sr-Latn-RS" altLang="sr-Latn-RS" sz="2400" dirty="0">
                <a:solidFill>
                  <a:srgbClr val="212121"/>
                </a:solidFill>
              </a:rPr>
              <a:t> </a:t>
            </a:r>
            <a:r>
              <a:rPr lang="sr-Latn-RS" altLang="sr-Latn-RS" sz="2400" dirty="0" smtClean="0"/>
              <a:t>model</a:t>
            </a:r>
            <a:r>
              <a:rPr lang="sr-Latn-RS" altLang="sr-Latn-RS" sz="2400" dirty="0">
                <a:solidFill>
                  <a:srgbClr val="0055AA"/>
                </a:solidFill>
              </a:rPr>
              <a:t>,</a:t>
            </a:r>
            <a:r>
              <a:rPr lang="sr-Latn-RS" altLang="sr-Latn-RS" sz="2400" dirty="0">
                <a:solidFill>
                  <a:srgbClr val="212121"/>
                </a:solidFill>
              </a:rPr>
              <a:t> </a:t>
            </a:r>
            <a:r>
              <a:rPr lang="sr-Latn-RS" altLang="sr-Latn-RS" sz="2400" dirty="0"/>
              <a:t>stanje</a:t>
            </a:r>
            <a:r>
              <a:rPr lang="sr-Latn-RS" altLang="sr-Latn-RS" sz="2400" dirty="0">
                <a:solidFill>
                  <a:srgbClr val="212121"/>
                </a:solidFill>
              </a:rPr>
              <a:t> </a:t>
            </a:r>
            <a:r>
              <a:rPr lang="sr-Latn-RS" altLang="sr-Latn-RS" sz="2400" dirty="0"/>
              <a:t>vozila</a:t>
            </a:r>
            <a:r>
              <a:rPr lang="sr-Latn-RS" altLang="sr-Latn-RS" sz="2400" dirty="0">
                <a:solidFill>
                  <a:srgbClr val="0055AA"/>
                </a:solidFill>
              </a:rPr>
              <a:t>,</a:t>
            </a:r>
            <a:r>
              <a:rPr lang="sr-Latn-RS" altLang="sr-Latn-RS" sz="2400" dirty="0">
                <a:solidFill>
                  <a:srgbClr val="212121"/>
                </a:solidFill>
              </a:rPr>
              <a:t> </a:t>
            </a:r>
            <a:r>
              <a:rPr lang="sr-Latn-RS" altLang="sr-Latn-RS" sz="2400" dirty="0"/>
              <a:t>kilometražu</a:t>
            </a:r>
            <a:r>
              <a:rPr lang="sr-Latn-RS" altLang="sr-Latn-RS" sz="2400" dirty="0">
                <a:solidFill>
                  <a:srgbClr val="0055AA"/>
                </a:solidFill>
              </a:rPr>
              <a:t>,</a:t>
            </a:r>
            <a:r>
              <a:rPr lang="sr-Latn-RS" altLang="sr-Latn-RS" sz="2400" dirty="0">
                <a:solidFill>
                  <a:srgbClr val="212121"/>
                </a:solidFill>
              </a:rPr>
              <a:t> </a:t>
            </a:r>
            <a:r>
              <a:rPr lang="sr-Latn-RS" altLang="sr-Latn-RS" sz="2400" dirty="0"/>
              <a:t>cijenu</a:t>
            </a:r>
            <a:r>
              <a:rPr lang="sr-Latn-RS" altLang="sr-Latn-RS" sz="2400" dirty="0">
                <a:solidFill>
                  <a:srgbClr val="212121"/>
                </a:solidFill>
              </a:rPr>
              <a:t> </a:t>
            </a:r>
            <a:r>
              <a:rPr lang="sr-Latn-RS" altLang="sr-Latn-RS" sz="2400" dirty="0"/>
              <a:t>i</a:t>
            </a:r>
            <a:r>
              <a:rPr lang="sr-Latn-RS" altLang="sr-Latn-RS" sz="2400" dirty="0">
                <a:solidFill>
                  <a:srgbClr val="212121"/>
                </a:solidFill>
              </a:rPr>
              <a:t> </a:t>
            </a:r>
            <a:r>
              <a:rPr lang="sr-Latn-RS" altLang="sr-Latn-RS" sz="2400" dirty="0"/>
              <a:t>datum</a:t>
            </a:r>
            <a:r>
              <a:rPr lang="sr-Latn-RS" altLang="sr-Latn-RS" sz="2400" dirty="0">
                <a:solidFill>
                  <a:srgbClr val="212121"/>
                </a:solidFill>
              </a:rPr>
              <a:t> </a:t>
            </a:r>
            <a:r>
              <a:rPr lang="sr-Latn-RS" altLang="sr-Latn-RS" sz="2400" dirty="0" smtClean="0"/>
              <a:t>prodaje</a:t>
            </a:r>
            <a:r>
              <a:rPr lang="sr-Latn-RS" altLang="sr-Latn-RS" sz="2400" b="1" dirty="0" smtClean="0">
                <a:solidFill>
                  <a:srgbClr val="AA22FF"/>
                </a:solidFill>
              </a:rPr>
              <a:t>.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sr-Latn-RS" altLang="sr-Latn-RS" sz="2400" b="1" dirty="0">
              <a:solidFill>
                <a:srgbClr val="AA22FF"/>
              </a:solidFill>
            </a:endParaRP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sr-Latn-RS" altLang="sr-Latn-RS" sz="2400" b="1" dirty="0" smtClean="0">
                <a:solidFill>
                  <a:srgbClr val="AA22FF"/>
                </a:solidFill>
              </a:rPr>
              <a:t>Dataset preuzet sa: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sr-Latn-RS" altLang="sr-Latn-RS" sz="2000" dirty="0"/>
              <a:t>https://www.kaggle.com/datasets/syedanwarafridi/vehicle-sales-data?resource=download</a:t>
            </a:r>
          </a:p>
        </p:txBody>
      </p:sp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Ispis prvih 5 redaka</a:t>
            </a:r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4132" y="2420888"/>
            <a:ext cx="4362450" cy="13716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81128"/>
            <a:ext cx="12188825" cy="1526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811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Je li skup podataka dovoljno velik?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413892" y="2420888"/>
            <a:ext cx="3429590" cy="576064"/>
          </a:xfrm>
          <a:prstGeom prst="rect">
            <a:avLst/>
          </a:prstGeom>
        </p:spPr>
      </p:pic>
      <p:sp>
        <p:nvSpPr>
          <p:cNvPr id="10" name="Content Placeholder 9"/>
          <p:cNvSpPr>
            <a:spLocks noGrp="1"/>
          </p:cNvSpPr>
          <p:nvPr>
            <p:ph sz="half" idx="2"/>
          </p:nvPr>
        </p:nvSpPr>
        <p:spPr>
          <a:xfrm>
            <a:off x="6500707" y="2636912"/>
            <a:ext cx="5078677" cy="1866136"/>
          </a:xfrm>
        </p:spPr>
        <p:txBody>
          <a:bodyPr/>
          <a:lstStyle/>
          <a:p>
            <a:r>
              <a:rPr lang="hr-HR" dirty="0"/>
              <a:t>Da. Skup sadrži </a:t>
            </a:r>
            <a:r>
              <a:rPr lang="hr-HR" dirty="0" smtClean="0"/>
              <a:t>više od 558 </a:t>
            </a:r>
            <a:r>
              <a:rPr lang="hr-HR" dirty="0"/>
              <a:t>000 redaka i </a:t>
            </a:r>
            <a:r>
              <a:rPr lang="hr-HR" dirty="0" smtClean="0"/>
              <a:t>16 </a:t>
            </a:r>
            <a:r>
              <a:rPr lang="hr-HR" dirty="0"/>
              <a:t>stupaca, što </a:t>
            </a:r>
            <a:r>
              <a:rPr lang="hr-HR" dirty="0" smtClean="0"/>
              <a:t>je više </a:t>
            </a:r>
            <a:r>
              <a:rPr lang="hr-HR" dirty="0"/>
              <a:t>od optimalnog minimuma (15 000 redaka i 20 stupaca).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1" y="3591412"/>
            <a:ext cx="1774539" cy="629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911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Je li skup ima dovoljno različite podatke?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884" y="1943341"/>
            <a:ext cx="990600" cy="2286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294212" y="2852936"/>
            <a:ext cx="6715293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hr-HR" dirty="0"/>
              <a:t>Da. Atributi poput make, model, state, seller i color imaju velik broj različitih vrijednosti, što pokazuje visoku raznolikost podataka.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884" y="2996952"/>
            <a:ext cx="1781175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162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Jedinstvenost podataka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948" y="2204864"/>
            <a:ext cx="7475331" cy="237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148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Jedinstvenost podataka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860" y="1699910"/>
            <a:ext cx="3744416" cy="481065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2404" y="2276873"/>
            <a:ext cx="4361021" cy="324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746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Frekvencija vrijednosti po stupcima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883" y="1844824"/>
            <a:ext cx="4095286" cy="74731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299" y="2947302"/>
            <a:ext cx="1960057" cy="361265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594" y="3196325"/>
            <a:ext cx="1933575" cy="333375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6740" y="797554"/>
            <a:ext cx="1645243" cy="5762402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8407" y="1628800"/>
            <a:ext cx="2486245" cy="4986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773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Frekvencija vrijednosti po stupcima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4132" y="1709633"/>
            <a:ext cx="2088232" cy="445425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030" y="1708708"/>
            <a:ext cx="2076450" cy="4467225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0436" y="1916832"/>
            <a:ext cx="3030351" cy="388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169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r-HR" dirty="0"/>
              <a:t>Je li skup ima vremensku dimenziju?</a:t>
            </a:r>
            <a:endParaRPr lang="en-US" dirty="0"/>
          </a:p>
        </p:txBody>
      </p:sp>
      <p:sp>
        <p:nvSpPr>
          <p:cNvPr id="10" name="Content Placeholder 9"/>
          <p:cNvSpPr>
            <a:spLocks noGrp="1"/>
          </p:cNvSpPr>
          <p:nvPr>
            <p:ph sz="half" idx="2"/>
          </p:nvPr>
        </p:nvSpPr>
        <p:spPr>
          <a:xfrm>
            <a:off x="6500707" y="2636912"/>
            <a:ext cx="5078677" cy="2304256"/>
          </a:xfrm>
        </p:spPr>
        <p:txBody>
          <a:bodyPr>
            <a:normAutofit/>
          </a:bodyPr>
          <a:lstStyle/>
          <a:p>
            <a:r>
              <a:rPr lang="hr-HR" dirty="0"/>
              <a:t>Da. Skup sadrži atribut saledate, koji omogućuje analizu trendova prodaje kroz vrijeme.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924" y="2771030"/>
            <a:ext cx="3362325" cy="219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358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Opis atributa</a:t>
            </a:r>
            <a:endParaRPr lang="en-US" dirty="0"/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2204" y="980728"/>
            <a:ext cx="4968552" cy="5275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662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Je li skup ima puno nedostajućih vrijednosti?</a:t>
            </a:r>
            <a:endParaRPr lang="en-US" dirty="0"/>
          </a:p>
        </p:txBody>
      </p:sp>
      <p:sp>
        <p:nvSpPr>
          <p:cNvPr id="10" name="Content Placeholder 9"/>
          <p:cNvSpPr>
            <a:spLocks noGrp="1"/>
          </p:cNvSpPr>
          <p:nvPr>
            <p:ph sz="half" idx="2"/>
          </p:nvPr>
        </p:nvSpPr>
        <p:spPr>
          <a:xfrm>
            <a:off x="5086301" y="2636912"/>
            <a:ext cx="6493084" cy="2592288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hr-HR" dirty="0"/>
              <a:t>Ne. Nedostajuće vrijednosti postoje u nekim atributima, ali u količini koja je uobičajena za realne skupove podataka i može se obraditi u daljnjoj analizi.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512" y="2619896"/>
            <a:ext cx="2257425" cy="37147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714" y="3284984"/>
            <a:ext cx="1981020" cy="2867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84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n-NO" dirty="0"/>
              <a:t>Je li skup ima kvantitativne i kvalitativne podatke?</a:t>
            </a:r>
            <a:endParaRPr lang="en-US" dirty="0"/>
          </a:p>
        </p:txBody>
      </p:sp>
      <p:sp>
        <p:nvSpPr>
          <p:cNvPr id="10" name="Content Placeholder 9"/>
          <p:cNvSpPr>
            <a:spLocks noGrp="1"/>
          </p:cNvSpPr>
          <p:nvPr>
            <p:ph sz="half" idx="2"/>
          </p:nvPr>
        </p:nvSpPr>
        <p:spPr>
          <a:xfrm>
            <a:off x="1320456" y="2204864"/>
            <a:ext cx="9526484" cy="2376264"/>
          </a:xfrm>
        </p:spPr>
        <p:txBody>
          <a:bodyPr>
            <a:normAutofit/>
          </a:bodyPr>
          <a:lstStyle/>
          <a:p>
            <a:r>
              <a:rPr lang="hr-HR" dirty="0"/>
              <a:t>Da. Skup uključuje numeričke podatke (npr. sellingprice, odometer, mmr, condition) i kategorijske podatke (npr. make, model, body, transmission).</a:t>
            </a:r>
          </a:p>
        </p:txBody>
      </p:sp>
    </p:spTree>
    <p:extLst>
      <p:ext uri="{BB962C8B-B14F-4D97-AF65-F5344CB8AC3E}">
        <p14:creationId xmlns:p14="http://schemas.microsoft.com/office/powerpoint/2010/main" val="1942767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5940" y="274637"/>
            <a:ext cx="9001000" cy="3874443"/>
          </a:xfrm>
        </p:spPr>
        <p:txBody>
          <a:bodyPr>
            <a:normAutofit/>
          </a:bodyPr>
          <a:lstStyle/>
          <a:p>
            <a:r>
              <a:rPr lang="hr-HR" sz="8800" dirty="0" smtClean="0"/>
              <a:t>HVALA NA PAŽNJI!</a:t>
            </a:r>
            <a:endParaRPr lang="en-US" sz="8800" dirty="0"/>
          </a:p>
        </p:txBody>
      </p:sp>
    </p:spTree>
    <p:extLst>
      <p:ext uri="{BB962C8B-B14F-4D97-AF65-F5344CB8AC3E}">
        <p14:creationId xmlns:p14="http://schemas.microsoft.com/office/powerpoint/2010/main" val="221752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Props1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0C67BEE-D13F-4BD2-98A5-34D8A0977F68}">
  <ds:schemaRefs>
    <ds:schemaRef ds:uri="http://purl.org/dc/dcmitype/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terms/"/>
    <ds:schemaRef ds:uri="http://purl.org/dc/elements/1.1/"/>
    <ds:schemaRef ds:uri="http://schemas.openxmlformats.org/package/2006/metadata/core-properties"/>
    <ds:schemaRef ds:uri="4873beb7-5857-4685-be1f-d57550cc96c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105</TotalTime>
  <Words>226</Words>
  <Application>Microsoft Office PowerPoint</Application>
  <PresentationFormat>Custom</PresentationFormat>
  <Paragraphs>24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Tech 16x9</vt:lpstr>
      <vt:lpstr>Analiza prodaje rabljenih vozila  Checkpoint 1</vt:lpstr>
      <vt:lpstr>Uvod</vt:lpstr>
      <vt:lpstr>Ispis prvih 5 redaka</vt:lpstr>
      <vt:lpstr>Je li skup podataka dovoljno velik?</vt:lpstr>
      <vt:lpstr>Je li skup ima dovoljno različite podatke?</vt:lpstr>
      <vt:lpstr>Jedinstvenost podataka</vt:lpstr>
      <vt:lpstr>Jedinstvenost podataka</vt:lpstr>
      <vt:lpstr>Frekvencija vrijednosti po stupcima</vt:lpstr>
      <vt:lpstr>Frekvencija vrijednosti po stupcima</vt:lpstr>
      <vt:lpstr>Je li skup ima vremensku dimenziju?</vt:lpstr>
      <vt:lpstr>Opis atributa</vt:lpstr>
      <vt:lpstr>Je li skup ima puno nedostajućih vrijednosti?</vt:lpstr>
      <vt:lpstr>Je li skup ima kvantitativne i kvalitativne podatke?</vt:lpstr>
      <vt:lpstr>HVALA NA PAŽNJI!</vt:lpstr>
    </vt:vector>
  </TitlesOfParts>
  <Company>Microsoft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Analiza rentanja vozila za Ameriku</dc:title>
  <dc:creator>Microsoft account</dc:creator>
  <cp:lastModifiedBy>Microsoft account</cp:lastModifiedBy>
  <cp:revision>12</cp:revision>
  <dcterms:created xsi:type="dcterms:W3CDTF">2026-03-16T10:48:55Z</dcterms:created>
  <dcterms:modified xsi:type="dcterms:W3CDTF">2026-03-25T14:12:41Z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</Properties>
</file>